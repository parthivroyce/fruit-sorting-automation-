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theme/theme29.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Lst>
  <p:notesMasterIdLst>
    <p:notesMasterId r:id="rId41"/>
  </p:notesMasterIdLst>
  <p:sldIdLst>
    <p:sldId id="256" r:id="rId29"/>
    <p:sldId id="257" r:id="rId30"/>
    <p:sldId id="258" r:id="rId31"/>
    <p:sldId id="259" r:id="rId32"/>
    <p:sldId id="260" r:id="rId33"/>
    <p:sldId id="261" r:id="rId34"/>
    <p:sldId id="262" r:id="rId35"/>
    <p:sldId id="263" r:id="rId36"/>
    <p:sldId id="264" r:id="rId37"/>
    <p:sldId id="265" r:id="rId38"/>
    <p:sldId id="266" r:id="rId39"/>
    <p:sldId id="267" r:id="rId4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6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11.xml"/><Relationship Id="rId21" Type="http://schemas.openxmlformats.org/officeDocument/2006/relationships/slideMaster" Target="slideMasters/slideMaster21.xml"/><Relationship Id="rId34" Type="http://schemas.openxmlformats.org/officeDocument/2006/relationships/slide" Target="slides/slide6.xml"/><Relationship Id="rId42" Type="http://schemas.openxmlformats.org/officeDocument/2006/relationships/presProps" Target="pres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4.xml"/><Relationship Id="rId37" Type="http://schemas.openxmlformats.org/officeDocument/2006/relationships/slide" Target="slides/slide9.xml"/><Relationship Id="rId40" Type="http://schemas.openxmlformats.org/officeDocument/2006/relationships/slide" Target="slides/slide12.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8.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slide" Target="slides/slide3.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2.xml"/><Relationship Id="rId35" Type="http://schemas.openxmlformats.org/officeDocument/2006/relationships/slide" Target="slides/slide7.xml"/><Relationship Id="rId43"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5.xml"/><Relationship Id="rId38" Type="http://schemas.openxmlformats.org/officeDocument/2006/relationships/slide" Target="slides/slide10.xml"/><Relationship Id="rId20" Type="http://schemas.openxmlformats.org/officeDocument/2006/relationships/slideMaster" Target="slideMasters/slideMaster20.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379AA4-4080-4651-9882-235507612320}" type="datetimeFigureOut">
              <a:rPr lang="en-US" smtClean="0"/>
              <a:t>4/24/2025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A8FAA4-F8A3-40FB-82D3-D48575D221B0}" type="slidenum">
              <a:rPr lang="en-US" smtClean="0"/>
              <a:t>‹#›</a:t>
            </a:fld>
            <a:endParaRPr lang="en-US"/>
          </a:p>
        </p:txBody>
      </p:sp>
    </p:spTree>
    <p:extLst>
      <p:ext uri="{BB962C8B-B14F-4D97-AF65-F5344CB8AC3E}">
        <p14:creationId xmlns:p14="http://schemas.microsoft.com/office/powerpoint/2010/main" val="394810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A8FAA4-F8A3-40FB-82D3-D48575D221B0}" type="slidenum">
              <a:rPr lang="en-US" smtClean="0"/>
              <a:t>7</a:t>
            </a:fld>
            <a:endParaRPr lang="en-US"/>
          </a:p>
        </p:txBody>
      </p:sp>
    </p:spTree>
    <p:extLst>
      <p:ext uri="{BB962C8B-B14F-4D97-AF65-F5344CB8AC3E}">
        <p14:creationId xmlns:p14="http://schemas.microsoft.com/office/powerpoint/2010/main" val="267479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015800" y="813240"/>
            <a:ext cx="4414320" cy="9601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0" y="0"/>
            <a:ext cx="3097800" cy="51433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2">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1">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31" name="PlaceHolder 1"/>
          <p:cNvSpPr>
            <a:spLocks noGrp="1"/>
          </p:cNvSpPr>
          <p:nvPr>
            <p:ph type="title"/>
          </p:nvPr>
        </p:nvSpPr>
        <p:spPr>
          <a:xfrm>
            <a:off x="4015800" y="813240"/>
            <a:ext cx="4414320" cy="9601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2" name="PlaceHolder 2"/>
          <p:cNvSpPr>
            <a:spLocks noGrp="1"/>
          </p:cNvSpPr>
          <p:nvPr>
            <p:ph/>
          </p:nvPr>
        </p:nvSpPr>
        <p:spPr>
          <a:xfrm>
            <a:off x="0" y="0"/>
            <a:ext cx="3097800" cy="514332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35" name="PlaceHolder 1"/>
          <p:cNvSpPr>
            <a:spLocks noGrp="1"/>
          </p:cNvSpPr>
          <p:nvPr>
            <p:ph type="title"/>
          </p:nvPr>
        </p:nvSpPr>
        <p:spPr>
          <a:xfrm>
            <a:off x="4015800" y="813240"/>
            <a:ext cx="4414320" cy="9601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6" name="PlaceHolder 2"/>
          <p:cNvSpPr>
            <a:spLocks noGrp="1"/>
          </p:cNvSpPr>
          <p:nvPr>
            <p:ph/>
          </p:nvPr>
        </p:nvSpPr>
        <p:spPr>
          <a:xfrm>
            <a:off x="0" y="0"/>
            <a:ext cx="1511640" cy="514332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
        <p:nvSpPr>
          <p:cNvPr id="37" name="PlaceHolder 3"/>
          <p:cNvSpPr>
            <a:spLocks noGrp="1"/>
          </p:cNvSpPr>
          <p:nvPr>
            <p:ph/>
          </p:nvPr>
        </p:nvSpPr>
        <p:spPr>
          <a:xfrm>
            <a:off x="1587600" y="0"/>
            <a:ext cx="1511640" cy="5143320"/>
          </a:xfrm>
          <a:prstGeom prst="rect">
            <a:avLst/>
          </a:prstGeom>
          <a:noFill/>
          <a:ln w="0">
            <a:noFill/>
          </a:ln>
        </p:spPr>
        <p:txBody>
          <a:bodyPr lIns="0" tIns="0" rIns="0" bIns="0" anchor="t">
            <a:normAutofit/>
          </a:bodyPr>
          <a:lstStyle/>
          <a:p>
            <a:pPr indent="0">
              <a:spcBef>
                <a:spcPts val="1417"/>
              </a:spcBef>
              <a:buNone/>
            </a:pPr>
            <a:endParaRPr lang="fr-FR" sz="14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39" name="PlaceHolder 1"/>
          <p:cNvSpPr>
            <a:spLocks noGrp="1"/>
          </p:cNvSpPr>
          <p:nvPr>
            <p:ph type="title"/>
          </p:nvPr>
        </p:nvSpPr>
        <p:spPr>
          <a:xfrm>
            <a:off x="4015800" y="813240"/>
            <a:ext cx="4414320" cy="9601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Default 1">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Default 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theme" Target="../theme/theme13.xml"/><Relationship Id="rId1" Type="http://schemas.openxmlformats.org/officeDocument/2006/relationships/slideLayout" Target="../slideLayouts/slideLayout13.xml"/><Relationship Id="rId4" Type="http://schemas.openxmlformats.org/officeDocument/2006/relationships/hyperlink" Target="http://bit.ly/2TtBDfr" TargetMode="Externa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body"/>
          </p:nvPr>
        </p:nvSpPr>
        <p:spPr>
          <a:xfrm>
            <a:off x="5702760" y="0"/>
            <a:ext cx="366948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3" name="PlaceHolder 2"/>
          <p:cNvSpPr>
            <a:spLocks noGrp="1"/>
          </p:cNvSpPr>
          <p:nvPr>
            <p:ph type="title"/>
          </p:nvPr>
        </p:nvSpPr>
        <p:spPr>
          <a:xfrm>
            <a:off x="487440" y="1436400"/>
            <a:ext cx="4705920" cy="1715400"/>
          </a:xfrm>
          <a:prstGeom prst="rect">
            <a:avLst/>
          </a:prstGeom>
          <a:noFill/>
          <a:ln w="0">
            <a:noFill/>
          </a:ln>
        </p:spPr>
        <p:txBody>
          <a:bodyPr lIns="91440" tIns="91440" rIns="91440" bIns="91440" anchor="b">
            <a:noAutofit/>
          </a:bodyPr>
          <a:lstStyle/>
          <a:p>
            <a:pPr indent="0">
              <a:buNone/>
            </a:pPr>
            <a:r>
              <a:rPr lang="fr-FR" sz="48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84120" y="1953000"/>
            <a:ext cx="4454280" cy="799200"/>
          </a:xfrm>
          <a:prstGeom prst="rect">
            <a:avLst/>
          </a:prstGeom>
          <a:noFill/>
          <a:ln w="0">
            <a:noFill/>
          </a:ln>
        </p:spPr>
        <p:txBody>
          <a:bodyPr lIns="91440" tIns="91440" rIns="91440" bIns="91440" anchor="b">
            <a:noAutofit/>
          </a:bodyPr>
          <a:lstStyle/>
          <a:p>
            <a:pPr indent="0">
              <a:lnSpc>
                <a:spcPct val="100000"/>
              </a:lnSpc>
              <a:buNone/>
            </a:pPr>
            <a:r>
              <a:rPr lang="fr-FR" sz="6000" b="0" strike="noStrike" spc="-1">
                <a:solidFill>
                  <a:schemeClr val="dk1"/>
                </a:solidFill>
                <a:latin typeface="Syncopate"/>
                <a:ea typeface="Syncopate"/>
              </a:rPr>
              <a:t>xx%</a:t>
            </a:r>
            <a:endParaRPr lang="fr-FR" sz="6000" b="0" strike="noStrike" spc="-1">
              <a:solidFill>
                <a:schemeClr val="dk1"/>
              </a:solidFill>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932200" y="444960"/>
            <a:ext cx="5395320" cy="66492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6" name="PlaceHolder 2"/>
          <p:cNvSpPr>
            <a:spLocks noGrp="1"/>
          </p:cNvSpPr>
          <p:nvPr>
            <p:ph type="title"/>
          </p:nvPr>
        </p:nvSpPr>
        <p:spPr>
          <a:xfrm>
            <a:off x="3428640" y="149904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7" name="PlaceHolder 3"/>
          <p:cNvSpPr>
            <a:spLocks noGrp="1"/>
          </p:cNvSpPr>
          <p:nvPr>
            <p:ph type="title"/>
          </p:nvPr>
        </p:nvSpPr>
        <p:spPr>
          <a:xfrm>
            <a:off x="3428640" y="255348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8" name="PlaceHolder 4"/>
          <p:cNvSpPr>
            <a:spLocks noGrp="1"/>
          </p:cNvSpPr>
          <p:nvPr>
            <p:ph type="title"/>
          </p:nvPr>
        </p:nvSpPr>
        <p:spPr>
          <a:xfrm>
            <a:off x="3428640" y="360792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9" name="PlaceHolder 5"/>
          <p:cNvSpPr>
            <a:spLocks noGrp="1"/>
          </p:cNvSpPr>
          <p:nvPr>
            <p:ph type="body"/>
          </p:nvPr>
        </p:nvSpPr>
        <p:spPr>
          <a:xfrm>
            <a:off x="360" y="0"/>
            <a:ext cx="3405600" cy="5143320"/>
          </a:xfrm>
          <a:prstGeom prst="rect">
            <a:avLst/>
          </a:prstGeom>
          <a:noFill/>
          <a:ln w="0">
            <a:noFill/>
          </a:ln>
        </p:spPr>
        <p:txBody>
          <a:bodyPr lIns="90000" tIns="45000" rIns="90000" bIns="45000" anchor="t">
            <a:normAutofit fontScale="93333"/>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13160" y="444960"/>
            <a:ext cx="77104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713160" y="444960"/>
            <a:ext cx="774432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 name="PlaceHolder 1"/>
          <p:cNvSpPr>
            <a:spLocks noGrp="1"/>
          </p:cNvSpPr>
          <p:nvPr>
            <p:ph type="body"/>
          </p:nvPr>
        </p:nvSpPr>
        <p:spPr>
          <a:xfrm>
            <a:off x="3786840" y="1963440"/>
            <a:ext cx="4653720" cy="2217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13" name="PlaceHolder 2"/>
          <p:cNvSpPr>
            <a:spLocks noGrp="1"/>
          </p:cNvSpPr>
          <p:nvPr>
            <p:ph type="title"/>
          </p:nvPr>
        </p:nvSpPr>
        <p:spPr>
          <a:xfrm>
            <a:off x="3405960" y="444960"/>
            <a:ext cx="4653720" cy="101088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4" name="PlaceHolder 3"/>
          <p:cNvSpPr>
            <a:spLocks noGrp="1"/>
          </p:cNvSpPr>
          <p:nvPr>
            <p:ph type="body"/>
          </p:nvPr>
        </p:nvSpPr>
        <p:spPr>
          <a:xfrm>
            <a:off x="0" y="0"/>
            <a:ext cx="3067920" cy="5143320"/>
          </a:xfrm>
          <a:prstGeom prst="rect">
            <a:avLst/>
          </a:prstGeom>
          <a:noFill/>
          <a:ln w="0">
            <a:noFill/>
          </a:ln>
        </p:spPr>
        <p:txBody>
          <a:bodyPr lIns="90000" tIns="45000" rIns="90000" bIns="45000" anchor="t">
            <a:normAutofit fontScale="68333"/>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13160" y="794520"/>
            <a:ext cx="7717320" cy="698040"/>
          </a:xfrm>
          <a:prstGeom prst="rect">
            <a:avLst/>
          </a:prstGeom>
          <a:noFill/>
          <a:ln w="0">
            <a:noFill/>
          </a:ln>
        </p:spPr>
        <p:txBody>
          <a:bodyPr lIns="91440" tIns="91440" rIns="91440" bIns="91440" anchor="t">
            <a:noAutofit/>
          </a:bodyPr>
          <a:lstStyle/>
          <a:p>
            <a:pPr indent="0">
              <a:buNone/>
            </a:pPr>
            <a:r>
              <a:rPr lang="fr-FR" sz="4000" b="0" strike="noStrike" spc="-1">
                <a:solidFill>
                  <a:schemeClr val="dk1"/>
                </a:solidFill>
                <a:latin typeface="Arial"/>
              </a:rPr>
              <a:t>Click to edit the title text format</a:t>
            </a:r>
          </a:p>
        </p:txBody>
      </p:sp>
      <p:sp>
        <p:nvSpPr>
          <p:cNvPr id="16" name="PlaceHolder 2"/>
          <p:cNvSpPr>
            <a:spLocks noGrp="1"/>
          </p:cNvSpPr>
          <p:nvPr>
            <p:ph type="body"/>
          </p:nvPr>
        </p:nvSpPr>
        <p:spPr>
          <a:xfrm>
            <a:off x="3352680" y="2398680"/>
            <a:ext cx="5077800" cy="1950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405960" y="444960"/>
            <a:ext cx="47242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18" name="PlaceHolder 2"/>
          <p:cNvSpPr>
            <a:spLocks noGrp="1"/>
          </p:cNvSpPr>
          <p:nvPr>
            <p:ph type="body"/>
          </p:nvPr>
        </p:nvSpPr>
        <p:spPr>
          <a:xfrm>
            <a:off x="0" y="0"/>
            <a:ext cx="3097800" cy="5143320"/>
          </a:xfrm>
          <a:prstGeom prst="rect">
            <a:avLst/>
          </a:prstGeom>
          <a:noFill/>
          <a:ln w="0">
            <a:noFill/>
          </a:ln>
        </p:spPr>
        <p:txBody>
          <a:bodyPr lIns="90000" tIns="45000" rIns="90000" bIns="45000" anchor="t">
            <a:normAutofit fontScale="75000" lnSpcReduction="20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13160" y="444960"/>
            <a:ext cx="77104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738720" y="1234440"/>
            <a:ext cx="3759120" cy="754200"/>
          </a:xfrm>
          <a:prstGeom prst="rect">
            <a:avLst/>
          </a:prstGeom>
          <a:noFill/>
          <a:ln w="0">
            <a:noFill/>
          </a:ln>
        </p:spPr>
        <p:txBody>
          <a:bodyPr lIns="91440" tIns="91440" rIns="91440" bIns="91440" anchor="b">
            <a:noAutofit/>
          </a:bodyPr>
          <a:lstStyle/>
          <a:p>
            <a:pPr indent="0">
              <a:lnSpc>
                <a:spcPct val="100000"/>
              </a:lnSpc>
              <a:buNone/>
            </a:pPr>
            <a:r>
              <a:rPr lang="fr-FR" sz="3900" b="0" strike="noStrike" spc="-1">
                <a:solidFill>
                  <a:schemeClr val="dk1"/>
                </a:solidFill>
                <a:latin typeface="Syncopate"/>
                <a:ea typeface="Syncopate"/>
              </a:rPr>
              <a:t>xx%</a:t>
            </a:r>
            <a:endParaRPr lang="fr-FR" sz="3900" b="0" strike="noStrike" spc="-1">
              <a:solidFill>
                <a:schemeClr val="dk1"/>
              </a:solidFill>
              <a:latin typeface="Arial"/>
            </a:endParaRPr>
          </a:p>
        </p:txBody>
      </p:sp>
      <p:sp>
        <p:nvSpPr>
          <p:cNvPr id="21" name="PlaceHolder 2"/>
          <p:cNvSpPr>
            <a:spLocks noGrp="1"/>
          </p:cNvSpPr>
          <p:nvPr>
            <p:ph type="title"/>
          </p:nvPr>
        </p:nvSpPr>
        <p:spPr>
          <a:xfrm>
            <a:off x="738720" y="2921400"/>
            <a:ext cx="3759120" cy="754200"/>
          </a:xfrm>
          <a:prstGeom prst="rect">
            <a:avLst/>
          </a:prstGeom>
          <a:noFill/>
          <a:ln w="0">
            <a:noFill/>
          </a:ln>
        </p:spPr>
        <p:txBody>
          <a:bodyPr lIns="91440" tIns="91440" rIns="91440" bIns="91440" anchor="b">
            <a:noAutofit/>
          </a:bodyPr>
          <a:lstStyle/>
          <a:p>
            <a:pPr indent="0">
              <a:lnSpc>
                <a:spcPct val="100000"/>
              </a:lnSpc>
              <a:buNone/>
            </a:pPr>
            <a:r>
              <a:rPr lang="fr-FR" sz="3900" b="0" strike="noStrike" spc="-1">
                <a:solidFill>
                  <a:schemeClr val="dk1"/>
                </a:solidFill>
                <a:latin typeface="Syncopate"/>
                <a:ea typeface="Syncopate"/>
              </a:rPr>
              <a:t>xx%</a:t>
            </a:r>
            <a:endParaRPr lang="fr-FR" sz="3900" b="0" strike="noStrike" spc="-1">
              <a:solidFill>
                <a:schemeClr val="dk1"/>
              </a:solidFill>
              <a:latin typeface="Arial"/>
            </a:endParaRPr>
          </a:p>
        </p:txBody>
      </p:sp>
      <p:sp>
        <p:nvSpPr>
          <p:cNvPr id="22" name="PlaceHolder 3"/>
          <p:cNvSpPr>
            <a:spLocks noGrp="1"/>
          </p:cNvSpPr>
          <p:nvPr>
            <p:ph type="body"/>
          </p:nvPr>
        </p:nvSpPr>
        <p:spPr>
          <a:xfrm>
            <a:off x="5569200" y="0"/>
            <a:ext cx="35744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84440" y="1832400"/>
            <a:ext cx="4359600" cy="1406160"/>
          </a:xfrm>
          <a:prstGeom prst="rect">
            <a:avLst/>
          </a:prstGeom>
          <a:noFill/>
          <a:ln w="0">
            <a:noFill/>
          </a:ln>
        </p:spPr>
        <p:txBody>
          <a:bodyPr lIns="91440" tIns="91440" rIns="91440" bIns="91440" anchor="b">
            <a:noAutofit/>
          </a:bodyPr>
          <a:lstStyle/>
          <a:p>
            <a:pPr indent="0">
              <a:buNone/>
            </a:pPr>
            <a:r>
              <a:rPr lang="fr-FR" sz="3900" b="0" strike="noStrike" spc="-1">
                <a:solidFill>
                  <a:schemeClr val="dk1"/>
                </a:solidFill>
                <a:latin typeface="Arial"/>
              </a:rPr>
              <a:t>Click to edit the title text format</a:t>
            </a:r>
          </a:p>
        </p:txBody>
      </p:sp>
      <p:sp>
        <p:nvSpPr>
          <p:cNvPr id="24" name="PlaceHolder 2"/>
          <p:cNvSpPr>
            <a:spLocks noGrp="1"/>
          </p:cNvSpPr>
          <p:nvPr>
            <p:ph type="title"/>
          </p:nvPr>
        </p:nvSpPr>
        <p:spPr>
          <a:xfrm>
            <a:off x="4236480" y="636480"/>
            <a:ext cx="1281960" cy="828000"/>
          </a:xfrm>
          <a:prstGeom prst="rect">
            <a:avLst/>
          </a:prstGeom>
          <a:noFill/>
          <a:ln w="0">
            <a:noFill/>
          </a:ln>
        </p:spPr>
        <p:txBody>
          <a:bodyPr lIns="91440" tIns="91440" rIns="91440" bIns="91440" anchor="ctr">
            <a:noAutofit/>
          </a:bodyPr>
          <a:lstStyle/>
          <a:p>
            <a:pPr indent="0">
              <a:lnSpc>
                <a:spcPct val="100000"/>
              </a:lnSpc>
              <a:buNone/>
            </a:pPr>
            <a:r>
              <a:rPr lang="fr-FR" sz="4300" b="0" strike="noStrike" spc="-1">
                <a:solidFill>
                  <a:schemeClr val="dk1"/>
                </a:solidFill>
                <a:latin typeface="Syncopate"/>
                <a:ea typeface="Syncopate"/>
              </a:rPr>
              <a:t>xx%</a:t>
            </a:r>
            <a:endParaRPr lang="fr-FR" sz="4300" b="0" strike="noStrike" spc="-1">
              <a:solidFill>
                <a:schemeClr val="dk1"/>
              </a:solidFill>
              <a:latin typeface="Arial"/>
            </a:endParaRPr>
          </a:p>
        </p:txBody>
      </p:sp>
      <p:sp>
        <p:nvSpPr>
          <p:cNvPr id="25" name="PlaceHolder 3"/>
          <p:cNvSpPr>
            <a:spLocks noGrp="1"/>
          </p:cNvSpPr>
          <p:nvPr>
            <p:ph type="body"/>
          </p:nvPr>
        </p:nvSpPr>
        <p:spPr>
          <a:xfrm>
            <a:off x="5372640" y="0"/>
            <a:ext cx="377100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015800" y="813240"/>
            <a:ext cx="4414320" cy="960120"/>
          </a:xfrm>
          <a:prstGeom prst="rect">
            <a:avLst/>
          </a:prstGeom>
          <a:noFill/>
          <a:ln w="0">
            <a:noFill/>
          </a:ln>
        </p:spPr>
        <p:txBody>
          <a:bodyPr lIns="91440" tIns="91440" rIns="91440" bIns="91440" anchor="b">
            <a:noAutofit/>
          </a:bodyPr>
          <a:lstStyle/>
          <a:p>
            <a:pPr indent="0">
              <a:buNone/>
            </a:pPr>
            <a:r>
              <a:rPr lang="fr-FR" sz="5800" b="0" strike="noStrike" spc="-1">
                <a:solidFill>
                  <a:schemeClr val="dk1"/>
                </a:solidFill>
                <a:latin typeface="Arial"/>
              </a:rPr>
              <a:t>Click to edit the title text format</a:t>
            </a:r>
          </a:p>
        </p:txBody>
      </p:sp>
      <p:sp>
        <p:nvSpPr>
          <p:cNvPr id="27" name="PlaceHolder 2"/>
          <p:cNvSpPr>
            <a:spLocks noGrp="1"/>
          </p:cNvSpPr>
          <p:nvPr>
            <p:ph type="body"/>
          </p:nvPr>
        </p:nvSpPr>
        <p:spPr>
          <a:xfrm>
            <a:off x="0" y="0"/>
            <a:ext cx="3097800" cy="5143320"/>
          </a:xfrm>
          <a:prstGeom prst="rect">
            <a:avLst/>
          </a:prstGeom>
          <a:noFill/>
          <a:ln w="0">
            <a:noFill/>
          </a:ln>
        </p:spPr>
        <p:txBody>
          <a:bodyPr lIns="90000" tIns="45000" rIns="90000" bIns="45000" anchor="t">
            <a:normAutofit fontScale="75000" lnSpcReduction="20000"/>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
        <p:nvSpPr>
          <p:cNvPr id="28" name="Google Shape;104;p21"/>
          <p:cNvSpPr/>
          <p:nvPr/>
        </p:nvSpPr>
        <p:spPr>
          <a:xfrm>
            <a:off x="4258080" y="3477960"/>
            <a:ext cx="4172400" cy="70236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200" b="0" strike="noStrike" spc="-1">
                <a:solidFill>
                  <a:schemeClr val="lt1"/>
                </a:solidFill>
                <a:latin typeface="Cabin"/>
                <a:ea typeface="Cabin"/>
              </a:rPr>
              <a:t>CREDITS: This presentation template was created by </a:t>
            </a:r>
            <a:r>
              <a:rPr lang="en" sz="1200" b="0" u="sng" strike="noStrike" spc="-1">
                <a:solidFill>
                  <a:schemeClr val="lt1"/>
                </a:solidFill>
                <a:uFillTx/>
                <a:latin typeface="Cabin Medium"/>
                <a:ea typeface="Cabin Medium"/>
                <a:hlinkClick r:id="rId3"/>
              </a:rPr>
              <a:t>Slidesgo</a:t>
            </a:r>
            <a:r>
              <a:rPr lang="en" sz="1200" b="0" strike="noStrike" spc="-1">
                <a:solidFill>
                  <a:schemeClr val="lt1"/>
                </a:solidFill>
                <a:latin typeface="Cabin"/>
                <a:ea typeface="Cabin"/>
              </a:rPr>
              <a:t>, and includes icons, infographics &amp; images by</a:t>
            </a:r>
            <a:r>
              <a:rPr lang="en" sz="1200" b="0" strike="noStrike" spc="-1">
                <a:solidFill>
                  <a:schemeClr val="lt1"/>
                </a:solidFill>
                <a:latin typeface="Cabin Medium"/>
                <a:ea typeface="Cabin Medium"/>
              </a:rPr>
              <a:t> </a:t>
            </a:r>
            <a:r>
              <a:rPr lang="en" sz="1200" b="0" u="sng" strike="noStrike" spc="-1">
                <a:solidFill>
                  <a:schemeClr val="lt1"/>
                </a:solidFill>
                <a:uFillTx/>
                <a:latin typeface="Cabin Medium"/>
                <a:ea typeface="Cabin Medium"/>
                <a:hlinkClick r:id="rId4"/>
              </a:rPr>
              <a:t>Freepik</a:t>
            </a:r>
            <a:r>
              <a:rPr lang="en" sz="1200" b="0" strike="noStrike" spc="-1">
                <a:solidFill>
                  <a:schemeClr val="lt1"/>
                </a:solidFill>
                <a:latin typeface="Cabin"/>
                <a:ea typeface="Cabin"/>
              </a:rPr>
              <a:t> </a:t>
            </a:r>
            <a:endParaRPr lang="en-US" sz="1200" b="0" strike="noStrike" spc="-1">
              <a:solidFill>
                <a:srgbClr val="FFFFFF"/>
              </a:solidFill>
              <a:latin typeface="OpenSymbol"/>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720000" y="1152360"/>
            <a:ext cx="7703640" cy="33393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2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2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2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2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2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200" b="0" strike="noStrike" spc="-1">
                <a:solidFill>
                  <a:srgbClr val="000000"/>
                </a:solidFill>
                <a:latin typeface="Arial"/>
              </a:rPr>
              <a:t>Seventh Outline Level</a:t>
            </a:r>
          </a:p>
        </p:txBody>
      </p:sp>
      <p:sp>
        <p:nvSpPr>
          <p:cNvPr id="30" name="PlaceHolder 2"/>
          <p:cNvSpPr>
            <a:spLocks noGrp="1"/>
          </p:cNvSpPr>
          <p:nvPr>
            <p:ph type="title"/>
          </p:nvPr>
        </p:nvSpPr>
        <p:spPr>
          <a:xfrm>
            <a:off x="713160" y="444960"/>
            <a:ext cx="77104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37560" y="444960"/>
            <a:ext cx="539280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34" name="PlaceHolder 2"/>
          <p:cNvSpPr>
            <a:spLocks noGrp="1"/>
          </p:cNvSpPr>
          <p:nvPr>
            <p:ph type="body"/>
          </p:nvPr>
        </p:nvSpPr>
        <p:spPr>
          <a:xfrm>
            <a:off x="5871600" y="0"/>
            <a:ext cx="3271680" cy="5143320"/>
          </a:xfrm>
          <a:prstGeom prst="rect">
            <a:avLst/>
          </a:prstGeom>
          <a:noFill/>
          <a:ln w="0">
            <a:noFill/>
          </a:ln>
        </p:spPr>
        <p:txBody>
          <a:bodyPr lIns="90000" tIns="45000" rIns="90000" bIns="45000" anchor="t">
            <a:normAutofit fontScale="75000"/>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13160" y="444960"/>
            <a:ext cx="7710480" cy="60732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3786840" y="1963440"/>
            <a:ext cx="4653720" cy="221796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4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4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400" b="0" strike="noStrike" spc="-1">
                <a:solidFill>
                  <a:srgbClr val="000000"/>
                </a:solidFill>
                <a:latin typeface="Arial"/>
              </a:rPr>
              <a:t>Seventh Outline Level</a:t>
            </a:r>
          </a:p>
        </p:txBody>
      </p:sp>
      <p:sp>
        <p:nvSpPr>
          <p:cNvPr id="41" name="PlaceHolder 2"/>
          <p:cNvSpPr>
            <a:spLocks noGrp="1"/>
          </p:cNvSpPr>
          <p:nvPr>
            <p:ph type="title"/>
          </p:nvPr>
        </p:nvSpPr>
        <p:spPr>
          <a:xfrm>
            <a:off x="3405960" y="444960"/>
            <a:ext cx="4653720" cy="101088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42" name="PlaceHolder 3"/>
          <p:cNvSpPr>
            <a:spLocks noGrp="1"/>
          </p:cNvSpPr>
          <p:nvPr>
            <p:ph type="body"/>
          </p:nvPr>
        </p:nvSpPr>
        <p:spPr>
          <a:xfrm>
            <a:off x="0" y="0"/>
            <a:ext cx="3067920" cy="5143320"/>
          </a:xfrm>
          <a:prstGeom prst="rect">
            <a:avLst/>
          </a:prstGeom>
          <a:noFill/>
          <a:ln w="0">
            <a:noFill/>
          </a:ln>
        </p:spPr>
        <p:txBody>
          <a:bodyPr lIns="90000" tIns="45000" rIns="90000" bIns="45000" anchor="t">
            <a:normAutofit fontScale="68333"/>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713160" y="444960"/>
            <a:ext cx="7710480" cy="57240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5" name="Google Shape;40;p10"/>
          <p:cNvSpPr/>
          <p:nvPr/>
        </p:nvSpPr>
        <p:spPr>
          <a:xfrm>
            <a:off x="0" y="0"/>
            <a:ext cx="9143640" cy="514332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pic>
        <p:nvPicPr>
          <p:cNvPr id="46" name="Google Shape;41;p10"/>
          <p:cNvPicPr/>
          <p:nvPr/>
        </p:nvPicPr>
        <p:blipFill>
          <a:blip r:embed="rId3"/>
          <a:stretch/>
        </p:blipFill>
        <p:spPr>
          <a:xfrm>
            <a:off x="0" y="0"/>
            <a:ext cx="9143640" cy="5143320"/>
          </a:xfrm>
          <a:prstGeom prst="rect">
            <a:avLst/>
          </a:prstGeom>
          <a:ln w="0">
            <a:noFill/>
          </a:ln>
        </p:spPr>
      </p:pic>
      <p:sp>
        <p:nvSpPr>
          <p:cNvPr id="47"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
        <p:nvSpPr>
          <p:cNvPr id="48" name="PlaceHolder 2"/>
          <p:cNvSpPr>
            <a:spLocks noGrp="1"/>
          </p:cNvSpPr>
          <p:nvPr>
            <p:ph type="title"/>
          </p:nvPr>
        </p:nvSpPr>
        <p:spPr>
          <a:xfrm>
            <a:off x="434160" y="3728160"/>
            <a:ext cx="4812120" cy="1006560"/>
          </a:xfrm>
          <a:prstGeom prst="rect">
            <a:avLst/>
          </a:prstGeom>
          <a:solidFill>
            <a:schemeClr val="lt1"/>
          </a:solidFill>
          <a:ln w="0">
            <a:noFill/>
          </a:ln>
        </p:spPr>
        <p:txBody>
          <a:bodyPr lIns="91440" tIns="91440" rIns="91440" bIns="91440" anchor="t">
            <a:noAutofit/>
          </a:bodyPr>
          <a:lstStyle/>
          <a:p>
            <a:pPr indent="0">
              <a:buNone/>
            </a:pPr>
            <a:r>
              <a:rPr lang="fr-FR" sz="27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49" name="Google Shape;11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0"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1" name="Google Shape;115;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2"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53"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4" name="Google Shape;123;p30"/>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5"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6" name="Google Shape;126;p31"/>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strike="noStrike" spc="-1">
              <a:solidFill>
                <a:srgbClr val="000000"/>
              </a:solidFill>
              <a:latin typeface="OpenSymbol"/>
            </a:endParaRPr>
          </a:p>
        </p:txBody>
      </p:sp>
      <p:sp>
        <p:nvSpPr>
          <p:cNvPr id="57"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
        <p:nvSpPr>
          <p:cNvPr id="58"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strike="noStrike" spc="-1">
                <a:solidFill>
                  <a:schemeClr val="dk1"/>
                </a:solidFill>
                <a:latin typeface="Arial"/>
              </a:rPr>
              <a:t>Click to edit the title text format</a:t>
            </a: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hyperlink" Target="https://colab.research.google.com/drive/19_IeJX59_oogGQAKwxT_aJkNsEuX9hgv?usp=sharing"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oogle Shape;133;p32"/>
          <p:cNvPicPr/>
          <p:nvPr/>
        </p:nvPicPr>
        <p:blipFill>
          <a:blip r:embed="rId2"/>
          <a:srcRect t="3296" b="3289"/>
          <a:stretch/>
        </p:blipFill>
        <p:spPr>
          <a:xfrm>
            <a:off x="5702760" y="0"/>
            <a:ext cx="3669480" cy="5143320"/>
          </a:xfrm>
          <a:prstGeom prst="rect">
            <a:avLst/>
          </a:prstGeom>
          <a:ln w="0">
            <a:noFill/>
          </a:ln>
        </p:spPr>
      </p:pic>
      <p:sp>
        <p:nvSpPr>
          <p:cNvPr id="60" name="PlaceHolder 1"/>
          <p:cNvSpPr>
            <a:spLocks noGrp="1"/>
          </p:cNvSpPr>
          <p:nvPr>
            <p:ph type="title"/>
          </p:nvPr>
        </p:nvSpPr>
        <p:spPr>
          <a:xfrm>
            <a:off x="485640" y="1438200"/>
            <a:ext cx="4704840" cy="171432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4800" b="0" strike="noStrike" spc="-1">
                <a:solidFill>
                  <a:schemeClr val="dk1"/>
                </a:solidFill>
                <a:latin typeface="Syncopate"/>
                <a:ea typeface="Syncopate"/>
              </a:rPr>
              <a:t>Automation of Fruit Sorting</a:t>
            </a:r>
            <a:endParaRPr lang="fr-FR" sz="4800" b="0" strike="noStrike" spc="-1">
              <a:solidFill>
                <a:schemeClr val="dk1"/>
              </a:solidFill>
              <a:latin typeface="Arial"/>
            </a:endParaRPr>
          </a:p>
        </p:txBody>
      </p:sp>
      <p:sp>
        <p:nvSpPr>
          <p:cNvPr id="61" name="PlaceHolder 2"/>
          <p:cNvSpPr>
            <a:spLocks noGrp="1"/>
          </p:cNvSpPr>
          <p:nvPr>
            <p:ph type="subTitle"/>
          </p:nvPr>
        </p:nvSpPr>
        <p:spPr>
          <a:xfrm>
            <a:off x="847800" y="3191040"/>
            <a:ext cx="4343040" cy="380520"/>
          </a:xfrm>
          <a:prstGeom prst="rect">
            <a:avLst/>
          </a:prstGeom>
          <a:noFill/>
          <a:ln w="0">
            <a:noFill/>
          </a:ln>
        </p:spPr>
        <p:txBody>
          <a:bodyPr lIns="91440" tIns="91440" rIns="91440" bIns="91440" anchor="t">
            <a:normAutofit fontScale="86943" lnSpcReduction="10000"/>
          </a:bodyPr>
          <a:lstStyle/>
          <a:p>
            <a:pPr indent="0" algn="r">
              <a:lnSpc>
                <a:spcPct val="100000"/>
              </a:lnSpc>
              <a:buNone/>
              <a:tabLst>
                <a:tab pos="0" algn="l"/>
              </a:tabLst>
            </a:pPr>
            <a:r>
              <a:rPr lang="en" sz="1600" b="0" strike="noStrike" spc="-1">
                <a:solidFill>
                  <a:schemeClr val="dk1"/>
                </a:solidFill>
                <a:latin typeface="Cabin"/>
                <a:ea typeface="Cabin"/>
              </a:rPr>
              <a:t>Enhancing Efficiency and Quality in Agriculture</a:t>
            </a:r>
            <a:endParaRPr lang="en-US" sz="1600" b="0" strike="noStrike" spc="-1">
              <a:solidFill>
                <a:srgbClr val="000000"/>
              </a:solidFill>
              <a:latin typeface="OpenSymbo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 name="Google Shape;178;p37"/>
          <p:cNvPicPr/>
          <p:nvPr/>
        </p:nvPicPr>
        <p:blipFill>
          <a:blip r:embed="rId2"/>
          <a:srcRect l="5254" r="5254"/>
          <a:stretch/>
        </p:blipFill>
        <p:spPr>
          <a:xfrm>
            <a:off x="0" y="0"/>
            <a:ext cx="3067920" cy="5143320"/>
          </a:xfrm>
          <a:prstGeom prst="rect">
            <a:avLst/>
          </a:prstGeom>
          <a:ln w="0">
            <a:noFill/>
          </a:ln>
        </p:spPr>
      </p:pic>
      <p:sp>
        <p:nvSpPr>
          <p:cNvPr id="63" name="PlaceHolder 1"/>
          <p:cNvSpPr>
            <a:spLocks noGrp="1"/>
          </p:cNvSpPr>
          <p:nvPr>
            <p:ph/>
          </p:nvPr>
        </p:nvSpPr>
        <p:spPr>
          <a:xfrm>
            <a:off x="3790800" y="1962000"/>
            <a:ext cx="4657320" cy="22190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Cabin"/>
                <a:ea typeface="Cabin"/>
              </a:rPr>
              <a:t>In modern agriculture, fruit sorting plays a critical role in ensuring only high-quality products reach consumers. </a:t>
            </a:r>
            <a:r>
              <a:rPr lang="en" sz="1400" b="0" strike="noStrike" spc="-1" dirty="0">
                <a:solidFill>
                  <a:schemeClr val="dk1"/>
                </a:solidFill>
                <a:latin typeface="Cabin"/>
                <a:ea typeface="Cabin"/>
              </a:rPr>
              <a:t>Automation is rapidly transforming this process, providing consistency, efficiency, and hygiene. This presentation explores the advancements in automated fruit sorting systems utilizing robotic arms and vision technology.</a:t>
            </a:r>
            <a:endParaRPr lang="fr-FR" sz="1400" b="0" strike="noStrike" spc="-1" dirty="0">
              <a:solidFill>
                <a:srgbClr val="000000"/>
              </a:solidFill>
              <a:latin typeface="Arial"/>
            </a:endParaRPr>
          </a:p>
        </p:txBody>
      </p:sp>
      <p:sp>
        <p:nvSpPr>
          <p:cNvPr id="64" name="PlaceHolder 2"/>
          <p:cNvSpPr>
            <a:spLocks noGrp="1"/>
          </p:cNvSpPr>
          <p:nvPr>
            <p:ph type="title"/>
          </p:nvPr>
        </p:nvSpPr>
        <p:spPr>
          <a:xfrm>
            <a:off x="3409920" y="447840"/>
            <a:ext cx="4657320" cy="1009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000" b="0" strike="noStrike" spc="-1">
                <a:solidFill>
                  <a:schemeClr val="dk1"/>
                </a:solidFill>
                <a:latin typeface="Syncopate"/>
                <a:ea typeface="Syncopate"/>
              </a:rPr>
              <a:t>Introduction</a:t>
            </a:r>
            <a:endParaRPr lang="fr-FR" sz="3000" b="0" strike="noStrike" spc="-1">
              <a:solidFill>
                <a:schemeClr val="dk1"/>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781200" y="1670671"/>
            <a:ext cx="2842024" cy="763132"/>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 sz="3900" b="0" strike="noStrike" spc="-1" dirty="0">
                <a:solidFill>
                  <a:schemeClr val="dk1"/>
                </a:solidFill>
                <a:latin typeface="Syncopate"/>
                <a:ea typeface="Syncopate"/>
              </a:rPr>
              <a:t>Introduction</a:t>
            </a:r>
            <a:endParaRPr lang="fr-FR" sz="3900" b="0" strike="noStrike" spc="-1" dirty="0">
              <a:solidFill>
                <a:schemeClr val="dk1"/>
              </a:solidFill>
              <a:latin typeface="Arial"/>
            </a:endParaRPr>
          </a:p>
        </p:txBody>
      </p:sp>
      <p:sp>
        <p:nvSpPr>
          <p:cNvPr id="66" name="PlaceHolder 2"/>
          <p:cNvSpPr>
            <a:spLocks noGrp="1"/>
          </p:cNvSpPr>
          <p:nvPr>
            <p:ph type="title"/>
          </p:nvPr>
        </p:nvSpPr>
        <p:spPr>
          <a:xfrm>
            <a:off x="4238640" y="638280"/>
            <a:ext cx="1285560" cy="82836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4300" b="0" strike="noStrike" spc="-1">
                <a:solidFill>
                  <a:schemeClr val="dk1"/>
                </a:solidFill>
                <a:latin typeface="Syncopate"/>
                <a:ea typeface="Syncopate"/>
              </a:rPr>
              <a:t>01</a:t>
            </a:r>
            <a:endParaRPr lang="fr-FR" sz="4300" b="0" strike="noStrike" spc="-1">
              <a:solidFill>
                <a:schemeClr val="dk1"/>
              </a:solidFill>
              <a:latin typeface="Arial"/>
            </a:endParaRPr>
          </a:p>
        </p:txBody>
      </p:sp>
      <p:sp>
        <p:nvSpPr>
          <p:cNvPr id="67" name="PlaceHolder 3"/>
          <p:cNvSpPr>
            <a:spLocks noGrp="1"/>
          </p:cNvSpPr>
          <p:nvPr>
            <p:ph type="subTitle"/>
          </p:nvPr>
        </p:nvSpPr>
        <p:spPr>
          <a:xfrm>
            <a:off x="577517" y="2502568"/>
            <a:ext cx="4393244" cy="1883802"/>
          </a:xfrm>
          <a:prstGeom prst="rect">
            <a:avLst/>
          </a:prstGeom>
          <a:noFill/>
          <a:ln w="0">
            <a:noFill/>
          </a:ln>
        </p:spPr>
        <p:txBody>
          <a:bodyPr lIns="91440" tIns="91440" rIns="91440" bIns="91440" anchor="t">
            <a:normAutofit fontScale="85000" lnSpcReduction="20000"/>
          </a:bodyPr>
          <a:lstStyle/>
          <a:p>
            <a:pPr indent="0" algn="ctr">
              <a:buNone/>
            </a:pPr>
            <a:r>
              <a:rPr lang="en-US" sz="1600" dirty="0" smtClean="0"/>
              <a:t>Fruit sorting involves classifying fruits based on attributes such as size, shape, color, weight, texture, and ripeness. This post-harvest process ensures that only marketable fruits are sold, while defective ones are discarded or processed further. Manual sorting based on visual inspection is traditional but lacks consistency and efficiency. In contrast, machine-based sorting uses sensors and algorithms to analyze fruit characteristics and sort accordingly.</a:t>
            </a:r>
            <a:endParaRPr lang="en-US" sz="1600" b="0" strike="noStrike" spc="-1" dirty="0">
              <a:solidFill>
                <a:schemeClr val="dk1"/>
              </a:solidFill>
              <a:latin typeface="Cabin"/>
              <a:ea typeface="Cabin"/>
            </a:endParaRPr>
          </a:p>
        </p:txBody>
      </p:sp>
      <p:pic>
        <p:nvPicPr>
          <p:cNvPr id="68" name="Google Shape;167;p35"/>
          <p:cNvPicPr/>
          <p:nvPr/>
        </p:nvPicPr>
        <p:blipFill>
          <a:blip r:embed="rId2"/>
          <a:srcRect t="4544" b="4555"/>
          <a:stretch/>
        </p:blipFill>
        <p:spPr>
          <a:xfrm>
            <a:off x="5372640" y="0"/>
            <a:ext cx="3771000" cy="5143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Syncopate"/>
                <a:ea typeface="Syncopate"/>
              </a:rPr>
              <a:t>Importance of Fruit Sorting</a:t>
            </a:r>
            <a:endParaRPr lang="fr-FR" sz="4000" b="0" strike="noStrike" spc="-1">
              <a:solidFill>
                <a:schemeClr val="dk1"/>
              </a:solidFill>
              <a:latin typeface="Arial"/>
            </a:endParaRPr>
          </a:p>
        </p:txBody>
      </p:sp>
      <p:sp>
        <p:nvSpPr>
          <p:cNvPr id="70" name="PlaceHolder 2"/>
          <p:cNvSpPr>
            <a:spLocks noGrp="1"/>
          </p:cNvSpPr>
          <p:nvPr>
            <p:ph/>
          </p:nvPr>
        </p:nvSpPr>
        <p:spPr>
          <a:xfrm>
            <a:off x="3352680" y="2400480"/>
            <a:ext cx="5076360" cy="1952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Cabin"/>
                <a:ea typeface="Cabin"/>
              </a:rPr>
              <a:t>Fruit sorting is essential to post-harvest management as it ensures that only fruits meeting quality standards are sold to consumers. This process directly impacts the marketability and safety of fruits, contributing to waste reduction and improved overall efficiency in the supply chain.</a:t>
            </a:r>
            <a:endParaRPr lang="fr-FR" sz="1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Syncopate"/>
                <a:ea typeface="Syncopate"/>
              </a:rPr>
              <a:t>Traditional vs Automated Methods</a:t>
            </a:r>
            <a:endParaRPr lang="fr-FR" sz="4000" b="0" strike="noStrike" spc="-1">
              <a:solidFill>
                <a:schemeClr val="dk1"/>
              </a:solidFill>
              <a:latin typeface="Arial"/>
            </a:endParaRPr>
          </a:p>
        </p:txBody>
      </p:sp>
      <p:sp>
        <p:nvSpPr>
          <p:cNvPr id="72" name="PlaceHolder 2"/>
          <p:cNvSpPr>
            <a:spLocks noGrp="1"/>
          </p:cNvSpPr>
          <p:nvPr>
            <p:ph/>
          </p:nvPr>
        </p:nvSpPr>
        <p:spPr>
          <a:xfrm>
            <a:off x="3352680" y="2400480"/>
            <a:ext cx="5076360" cy="1952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Cabin"/>
                <a:ea typeface="Cabin"/>
              </a:rPr>
              <a:t>Traditional fruit sorting methods rely heavily on manual labor, resulting in variability in outcomes, labor costs, and time consumption. In contrast, automated methods utilize advanced sensors and algorithms, leading to rapid and precise sorting based on multiple attributes such as size, shape, and color.</a:t>
            </a:r>
            <a:endParaRPr lang="fr-FR" sz="1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Google Shape;178;p37"/>
          <p:cNvPicPr/>
          <p:nvPr/>
        </p:nvPicPr>
        <p:blipFill>
          <a:blip r:embed="rId2"/>
          <a:srcRect l="5254" r="5254"/>
          <a:stretch/>
        </p:blipFill>
        <p:spPr>
          <a:xfrm>
            <a:off x="0" y="0"/>
            <a:ext cx="3067920" cy="5143320"/>
          </a:xfrm>
          <a:prstGeom prst="rect">
            <a:avLst/>
          </a:prstGeom>
          <a:ln w="0">
            <a:noFill/>
          </a:ln>
        </p:spPr>
      </p:pic>
      <p:sp>
        <p:nvSpPr>
          <p:cNvPr id="74" name="PlaceHolder 1"/>
          <p:cNvSpPr>
            <a:spLocks noGrp="1"/>
          </p:cNvSpPr>
          <p:nvPr>
            <p:ph/>
          </p:nvPr>
        </p:nvSpPr>
        <p:spPr>
          <a:xfrm>
            <a:off x="3790800" y="1962000"/>
            <a:ext cx="4657320" cy="22190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Cabin"/>
                <a:ea typeface="Cabin"/>
              </a:rPr>
              <a:t>Automated fruit sorting systems significantly enhance both quality and efficiency in the agricultural sector. By reducing human error and increasing the speed of sorting, these systems ensure that only the best fruits are selected for market. The application of precise machine vision technologies minimizes the risk of misclassification, promoting higher standards of quality control and optimizing the overall fruit supply chain.</a:t>
            </a:r>
            <a:endParaRPr lang="fr-FR" sz="1400" b="0" strike="noStrike" spc="-1">
              <a:solidFill>
                <a:srgbClr val="000000"/>
              </a:solidFill>
              <a:latin typeface="Arial"/>
            </a:endParaRPr>
          </a:p>
        </p:txBody>
      </p:sp>
      <p:sp>
        <p:nvSpPr>
          <p:cNvPr id="75" name="PlaceHolder 2"/>
          <p:cNvSpPr>
            <a:spLocks noGrp="1"/>
          </p:cNvSpPr>
          <p:nvPr>
            <p:ph type="title"/>
          </p:nvPr>
        </p:nvSpPr>
        <p:spPr>
          <a:xfrm>
            <a:off x="3409920" y="447840"/>
            <a:ext cx="4657320" cy="10094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000" b="0" strike="noStrike" spc="-1">
                <a:solidFill>
                  <a:schemeClr val="dk1"/>
                </a:solidFill>
                <a:latin typeface="Syncopate"/>
                <a:ea typeface="Syncopate"/>
              </a:rPr>
              <a:t>Impact on Quality and Efficiency</a:t>
            </a:r>
            <a:endParaRPr lang="fr-FR" sz="3000" b="0" strike="noStrike" spc="-1">
              <a:solidFill>
                <a:schemeClr val="dk1"/>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726199" y="1258160"/>
            <a:ext cx="2312635" cy="1409400"/>
          </a:xfrm>
          <a:prstGeom prst="rect">
            <a:avLst/>
          </a:prstGeom>
          <a:noFill/>
          <a:ln w="0">
            <a:noFill/>
          </a:ln>
        </p:spPr>
        <p:txBody>
          <a:bodyPr lIns="91440" tIns="91440" rIns="91440" bIns="91440" anchor="b">
            <a:normAutofit/>
          </a:bodyPr>
          <a:lstStyle/>
          <a:p>
            <a:pPr indent="0">
              <a:lnSpc>
                <a:spcPct val="100000"/>
              </a:lnSpc>
              <a:buNone/>
              <a:tabLst>
                <a:tab pos="0" algn="l"/>
              </a:tabLst>
            </a:pPr>
            <a:r>
              <a:rPr lang="en" sz="3900" b="0" strike="noStrike" spc="-1" dirty="0">
                <a:solidFill>
                  <a:schemeClr val="dk1"/>
                </a:solidFill>
                <a:latin typeface="Syncopate"/>
                <a:ea typeface="Syncopate"/>
              </a:rPr>
              <a:t>Literature Review</a:t>
            </a:r>
            <a:endParaRPr lang="fr-FR" sz="3900" b="0" strike="noStrike" spc="-1" dirty="0">
              <a:solidFill>
                <a:schemeClr val="dk1"/>
              </a:solidFill>
              <a:latin typeface="Arial"/>
            </a:endParaRPr>
          </a:p>
        </p:txBody>
      </p:sp>
      <p:sp>
        <p:nvSpPr>
          <p:cNvPr id="77" name="PlaceHolder 2"/>
          <p:cNvSpPr>
            <a:spLocks noGrp="1"/>
          </p:cNvSpPr>
          <p:nvPr>
            <p:ph type="title"/>
          </p:nvPr>
        </p:nvSpPr>
        <p:spPr>
          <a:xfrm>
            <a:off x="4238640" y="638280"/>
            <a:ext cx="1285560" cy="828360"/>
          </a:xfrm>
          <a:prstGeom prst="rect">
            <a:avLst/>
          </a:prstGeom>
          <a:noFill/>
          <a:ln w="0">
            <a:noFill/>
          </a:ln>
        </p:spPr>
        <p:txBody>
          <a:bodyPr lIns="91440" tIns="91440" rIns="91440" bIns="91440" anchor="ctr">
            <a:normAutofit fontScale="90000"/>
          </a:bodyPr>
          <a:lstStyle/>
          <a:p>
            <a:pPr indent="0">
              <a:lnSpc>
                <a:spcPct val="100000"/>
              </a:lnSpc>
              <a:buNone/>
              <a:tabLst>
                <a:tab pos="0" algn="l"/>
              </a:tabLst>
            </a:pPr>
            <a:r>
              <a:rPr lang="en" sz="4300" b="0" strike="noStrike" spc="-1">
                <a:solidFill>
                  <a:schemeClr val="dk1"/>
                </a:solidFill>
                <a:latin typeface="Syncopate"/>
                <a:ea typeface="Syncopate"/>
              </a:rPr>
              <a:t>02</a:t>
            </a:r>
            <a:endParaRPr lang="fr-FR" sz="4300" b="0" strike="noStrike" spc="-1">
              <a:solidFill>
                <a:schemeClr val="dk1"/>
              </a:solidFill>
              <a:latin typeface="Arial"/>
            </a:endParaRPr>
          </a:p>
        </p:txBody>
      </p:sp>
      <p:sp>
        <p:nvSpPr>
          <p:cNvPr id="78" name="PlaceHolder 3"/>
          <p:cNvSpPr>
            <a:spLocks noGrp="1"/>
          </p:cNvSpPr>
          <p:nvPr>
            <p:ph type="subTitle"/>
          </p:nvPr>
        </p:nvSpPr>
        <p:spPr>
          <a:xfrm>
            <a:off x="726199" y="2667560"/>
            <a:ext cx="3818300" cy="1801312"/>
          </a:xfrm>
          <a:prstGeom prst="rect">
            <a:avLst/>
          </a:prstGeom>
          <a:noFill/>
          <a:ln w="0">
            <a:noFill/>
          </a:ln>
        </p:spPr>
        <p:txBody>
          <a:bodyPr lIns="91440" tIns="91440" rIns="91440" bIns="91440" anchor="t">
            <a:noAutofit/>
          </a:bodyPr>
          <a:lstStyle/>
          <a:p>
            <a:pPr indent="0" algn="ctr">
              <a:buNone/>
            </a:pPr>
            <a:r>
              <a:rPr lang="en-US" sz="900" b="1" dirty="0" err="1" smtClean="0"/>
              <a:t>Lue</a:t>
            </a:r>
            <a:r>
              <a:rPr lang="en-US" sz="900" b="1" dirty="0" smtClean="0"/>
              <a:t> et al. [1]</a:t>
            </a:r>
            <a:r>
              <a:rPr lang="en-US" sz="900" dirty="0" smtClean="0"/>
              <a:t>  developed a system using color and shape to sort fruits with up to 95% accuracy at 400 fruits per minute.</a:t>
            </a:r>
            <a:endParaRPr lang="en-US" sz="900" spc="-1" dirty="0">
              <a:solidFill>
                <a:schemeClr val="dk1"/>
              </a:solidFill>
              <a:latin typeface="Cabin"/>
            </a:endParaRPr>
          </a:p>
          <a:p>
            <a:pPr indent="0" algn="ctr">
              <a:buNone/>
            </a:pPr>
            <a:r>
              <a:rPr lang="en-US" sz="900" dirty="0"/>
              <a:t>Classification accuracy</a:t>
            </a:r>
            <a:r>
              <a:rPr lang="en-US" sz="900" dirty="0" smtClean="0"/>
              <a:t>:</a:t>
            </a:r>
          </a:p>
          <a:p>
            <a:pPr indent="0" algn="ctr">
              <a:buNone/>
            </a:pPr>
            <a:r>
              <a:rPr lang="en-US" sz="900" dirty="0" smtClean="0"/>
              <a:t>Size </a:t>
            </a:r>
            <a:r>
              <a:rPr lang="en-US" sz="900" dirty="0"/>
              <a:t>&amp; Shape: &gt;95</a:t>
            </a:r>
            <a:r>
              <a:rPr lang="en-US" sz="900" dirty="0" smtClean="0"/>
              <a:t>%.</a:t>
            </a:r>
          </a:p>
          <a:p>
            <a:pPr indent="0" algn="ctr">
              <a:buNone/>
            </a:pPr>
            <a:r>
              <a:rPr lang="en-US" sz="900" dirty="0" smtClean="0"/>
              <a:t>Spoilage</a:t>
            </a:r>
            <a:r>
              <a:rPr lang="en-US" sz="900" dirty="0"/>
              <a:t>: &gt;90</a:t>
            </a:r>
            <a:r>
              <a:rPr lang="en-US" sz="900" dirty="0" smtClean="0"/>
              <a:t>%</a:t>
            </a:r>
          </a:p>
          <a:p>
            <a:pPr indent="0" algn="ctr">
              <a:buNone/>
            </a:pPr>
            <a:r>
              <a:rPr lang="en-US" sz="900" smtClean="0"/>
              <a:t>Maturity</a:t>
            </a:r>
            <a:r>
              <a:rPr lang="en-US" sz="900" dirty="0"/>
              <a:t>: &gt;93</a:t>
            </a:r>
            <a:r>
              <a:rPr lang="en-US" sz="900" dirty="0" smtClean="0"/>
              <a:t>%.</a:t>
            </a:r>
          </a:p>
          <a:p>
            <a:pPr indent="0" algn="ctr">
              <a:buNone/>
            </a:pPr>
            <a:r>
              <a:rPr lang="en-US" sz="900" dirty="0" smtClean="0"/>
              <a:t>Sorting </a:t>
            </a:r>
            <a:r>
              <a:rPr lang="en-US" sz="900" dirty="0"/>
              <a:t>throughput: Capable of processing </a:t>
            </a:r>
            <a:r>
              <a:rPr lang="en-US" sz="900" dirty="0" smtClean="0"/>
              <a:t>400 fruits per</a:t>
            </a:r>
            <a:r>
              <a:rPr lang="en-US" sz="900" dirty="0"/>
              <a:t> minute.</a:t>
            </a:r>
          </a:p>
        </p:txBody>
      </p:sp>
      <p:pic>
        <p:nvPicPr>
          <p:cNvPr id="79" name="Google Shape;167;p35"/>
          <p:cNvPicPr/>
          <p:nvPr/>
        </p:nvPicPr>
        <p:blipFill>
          <a:blip r:embed="rId3"/>
          <a:srcRect t="4544" b="4555"/>
          <a:stretch/>
        </p:blipFill>
        <p:spPr>
          <a:xfrm>
            <a:off x="5372640" y="0"/>
            <a:ext cx="3771000" cy="5143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oogle Shape;178;p37"/>
          <p:cNvPicPr/>
          <p:nvPr/>
        </p:nvPicPr>
        <p:blipFill>
          <a:blip r:embed="rId2"/>
          <a:srcRect l="5254" r="5254"/>
          <a:stretch/>
        </p:blipFill>
        <p:spPr>
          <a:xfrm>
            <a:off x="0" y="0"/>
            <a:ext cx="3067920" cy="5143320"/>
          </a:xfrm>
          <a:prstGeom prst="rect">
            <a:avLst/>
          </a:prstGeom>
          <a:ln w="0">
            <a:noFill/>
          </a:ln>
        </p:spPr>
      </p:pic>
      <p:sp>
        <p:nvSpPr>
          <p:cNvPr id="81" name="PlaceHolder 1"/>
          <p:cNvSpPr>
            <a:spLocks noGrp="1"/>
          </p:cNvSpPr>
          <p:nvPr>
            <p:ph/>
          </p:nvPr>
        </p:nvSpPr>
        <p:spPr>
          <a:xfrm>
            <a:off x="3790800" y="1962000"/>
            <a:ext cx="4657320" cy="22190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400" b="0" strike="noStrike" spc="-1">
                <a:solidFill>
                  <a:schemeClr val="dk1"/>
                </a:solidFill>
                <a:latin typeface="Cabin"/>
                <a:ea typeface="Cabin"/>
              </a:rPr>
              <a:t>Traditional methods of fruit sorting face several challenges including labor-intensive processes, potential for human error, and inconsistency in sorting results. Workers may struggle to meet quality standards due to fatigue and subjective judgments, leading to variable outcomes that can impact the overall fruit quality and marketability.</a:t>
            </a:r>
            <a:endParaRPr lang="fr-FR" sz="1400" b="0" strike="noStrike" spc="-1">
              <a:solidFill>
                <a:srgbClr val="000000"/>
              </a:solidFill>
              <a:latin typeface="Arial"/>
            </a:endParaRPr>
          </a:p>
        </p:txBody>
      </p:sp>
      <p:sp>
        <p:nvSpPr>
          <p:cNvPr id="82" name="PlaceHolder 2"/>
          <p:cNvSpPr>
            <a:spLocks noGrp="1"/>
          </p:cNvSpPr>
          <p:nvPr>
            <p:ph type="title"/>
          </p:nvPr>
        </p:nvSpPr>
        <p:spPr>
          <a:xfrm>
            <a:off x="3409920" y="447840"/>
            <a:ext cx="4657320" cy="100944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000" b="0" strike="noStrike" spc="-1">
                <a:solidFill>
                  <a:schemeClr val="dk1"/>
                </a:solidFill>
                <a:latin typeface="Syncopate"/>
                <a:ea typeface="Syncopate"/>
              </a:rPr>
              <a:t>Challenges in Traditional Sorting</a:t>
            </a:r>
            <a:endParaRPr lang="fr-FR" sz="3000" b="0" strike="noStrike" spc="-1">
              <a:solidFill>
                <a:schemeClr val="dk1"/>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Syncopate"/>
                <a:ea typeface="Syncopate"/>
              </a:rPr>
              <a:t>Advancements in Automation</a:t>
            </a:r>
            <a:endParaRPr lang="fr-FR" sz="4000" b="0" strike="noStrike" spc="-1">
              <a:solidFill>
                <a:schemeClr val="dk1"/>
              </a:solidFill>
              <a:latin typeface="Arial"/>
            </a:endParaRPr>
          </a:p>
        </p:txBody>
      </p:sp>
      <p:sp>
        <p:nvSpPr>
          <p:cNvPr id="84" name="PlaceHolder 2"/>
          <p:cNvSpPr>
            <a:spLocks noGrp="1"/>
          </p:cNvSpPr>
          <p:nvPr>
            <p:ph/>
          </p:nvPr>
        </p:nvSpPr>
        <p:spPr>
          <a:xfrm>
            <a:off x="3352680" y="2400480"/>
            <a:ext cx="5076360" cy="1952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Cabin"/>
                <a:ea typeface="Cabin"/>
              </a:rPr>
              <a:t>Recent advancements in automation technologies have transformed fruit sorting, with the introduction of </a:t>
            </a:r>
            <a:r>
              <a:rPr lang="en" sz="1200" spc="-1" smtClean="0">
                <a:solidFill>
                  <a:schemeClr val="dk1"/>
                </a:solidFill>
                <a:latin typeface="Cabin"/>
                <a:ea typeface="Cabin"/>
              </a:rPr>
              <a:t>Robot Arm Control</a:t>
            </a:r>
            <a:r>
              <a:rPr lang="en" sz="1200" b="0" strike="noStrike" spc="-1" smtClean="0">
                <a:solidFill>
                  <a:schemeClr val="dk1"/>
                </a:solidFill>
                <a:latin typeface="Cabin"/>
                <a:ea typeface="Cabin"/>
              </a:rPr>
              <a:t> </a:t>
            </a:r>
            <a:r>
              <a:rPr lang="en" sz="1200" b="0" strike="noStrike" spc="-1">
                <a:solidFill>
                  <a:schemeClr val="dk1"/>
                </a:solidFill>
                <a:latin typeface="Cabin"/>
                <a:ea typeface="Cabin"/>
              </a:rPr>
              <a:t>systems and sophisticated algorithms. </a:t>
            </a:r>
            <a:r>
              <a:rPr lang="en" sz="1200" b="0" strike="noStrike" spc="-1" dirty="0">
                <a:solidFill>
                  <a:schemeClr val="dk1"/>
                </a:solidFill>
                <a:latin typeface="Cabin"/>
                <a:ea typeface="Cabin"/>
              </a:rPr>
              <a:t>These innovations enable rapid processing speeds of up to hundreds of fruits per minute, maintaining accuracy and reliability. Implementing robotics and AI facilitates precise sorting based on predetermined quality criteria like size, shape, and color.</a:t>
            </a:r>
            <a:endParaRPr lang="fr-FR" sz="1200" b="0" strike="noStrike" spc="-1" dirty="0">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Syncopate"/>
                <a:ea typeface="Syncopate"/>
              </a:rPr>
              <a:t>Machine Vision in Fruit Sorting</a:t>
            </a:r>
            <a:endParaRPr lang="fr-FR" sz="4000" b="0" strike="noStrike" spc="-1">
              <a:solidFill>
                <a:schemeClr val="dk1"/>
              </a:solidFill>
              <a:latin typeface="Arial"/>
            </a:endParaRPr>
          </a:p>
        </p:txBody>
      </p:sp>
      <p:sp>
        <p:nvSpPr>
          <p:cNvPr id="86" name="PlaceHolder 2"/>
          <p:cNvSpPr>
            <a:spLocks noGrp="1"/>
          </p:cNvSpPr>
          <p:nvPr>
            <p:ph/>
          </p:nvPr>
        </p:nvSpPr>
        <p:spPr>
          <a:xfrm>
            <a:off x="3352680" y="2400480"/>
            <a:ext cx="5076360" cy="1952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a:solidFill>
                  <a:schemeClr val="dk1"/>
                </a:solidFill>
                <a:latin typeface="Cabin"/>
                <a:ea typeface="Cabin"/>
              </a:rPr>
              <a:t>Machine vision systems leverage image processing and deep learning to classify fruits based on visual attributes. These systems can detect flaws like bruises or rot and classify fruits with remarkable accuracy. By incorporating machine learning models, the technology continues to evolve, resulting in improved sorting performance and higher quality assurance in the fruit processing industry.</a:t>
            </a:r>
            <a:endParaRPr lang="fr-FR" sz="1200" b="0" strike="noStrike" spc="-1">
              <a:solidFill>
                <a:srgbClr val="000000"/>
              </a:solidFill>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714240" y="790560"/>
            <a:ext cx="7714800" cy="69480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0" strike="noStrike" spc="-1">
                <a:solidFill>
                  <a:schemeClr val="dk1"/>
                </a:solidFill>
                <a:latin typeface="Syncopate"/>
                <a:ea typeface="Syncopate"/>
              </a:rPr>
              <a:t>Conclusions</a:t>
            </a:r>
            <a:endParaRPr lang="fr-FR" sz="4000" b="0" strike="noStrike" spc="-1">
              <a:solidFill>
                <a:schemeClr val="dk1"/>
              </a:solidFill>
              <a:latin typeface="Arial"/>
            </a:endParaRPr>
          </a:p>
        </p:txBody>
      </p:sp>
      <p:sp>
        <p:nvSpPr>
          <p:cNvPr id="88" name="PlaceHolder 2"/>
          <p:cNvSpPr>
            <a:spLocks noGrp="1"/>
          </p:cNvSpPr>
          <p:nvPr>
            <p:ph/>
          </p:nvPr>
        </p:nvSpPr>
        <p:spPr>
          <a:xfrm>
            <a:off x="2981419" y="1657960"/>
            <a:ext cx="5076360" cy="195228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1200" b="0" strike="noStrike" spc="-1" dirty="0">
                <a:solidFill>
                  <a:schemeClr val="dk1"/>
                </a:solidFill>
                <a:latin typeface="Cabin"/>
                <a:ea typeface="Cabin"/>
              </a:rPr>
              <a:t>The integration of automation and machine vision in fruit sorting represents a pivotal advancement for the agricultural industry. By significantly improving sorting accuracy and operational efficiency, these technologies not only enhance product quality but also streamline processing workflows, ultimately meeting the growing demands for quality and safety in the food supply chain</a:t>
            </a:r>
            <a:r>
              <a:rPr lang="en" sz="1200" b="0" strike="noStrike" spc="-1" dirty="0" smtClean="0">
                <a:solidFill>
                  <a:schemeClr val="dk1"/>
                </a:solidFill>
                <a:latin typeface="Cabin"/>
                <a:ea typeface="Cabin"/>
              </a:rPr>
              <a:t>.</a:t>
            </a:r>
          </a:p>
          <a:p>
            <a:pPr indent="0">
              <a:lnSpc>
                <a:spcPct val="100000"/>
              </a:lnSpc>
              <a:buNone/>
              <a:tabLst>
                <a:tab pos="0" algn="l"/>
              </a:tabLst>
            </a:pPr>
            <a:r>
              <a:rPr lang="en-US" sz="1200" spc="-1" dirty="0">
                <a:solidFill>
                  <a:schemeClr val="dk1"/>
                </a:solidFill>
                <a:latin typeface="Cabin"/>
                <a:ea typeface="Cabin"/>
                <a:hlinkClick r:id="rId2"/>
              </a:rPr>
              <a:t>https://colab.research.google.com/drive/19_IeJX59_oogGQAKwxT_aJkNsEuX9hgv?usp=sharing</a:t>
            </a:r>
            <a:endParaRPr lang="en" sz="1200" b="0" strike="noStrike" spc="-1" dirty="0" smtClean="0">
              <a:solidFill>
                <a:schemeClr val="dk1"/>
              </a:solidFill>
              <a:latin typeface="Cabin"/>
              <a:ea typeface="Cabin"/>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019400" y="809640"/>
            <a:ext cx="4409640" cy="871920"/>
          </a:xfrm>
          <a:prstGeom prst="rect">
            <a:avLst/>
          </a:prstGeom>
          <a:noFill/>
          <a:ln w="0">
            <a:noFill/>
          </a:ln>
        </p:spPr>
        <p:txBody>
          <a:bodyPr lIns="91440" tIns="91440" rIns="91440" bIns="91440" anchor="b">
            <a:normAutofit fontScale="90000"/>
          </a:bodyPr>
          <a:lstStyle/>
          <a:p>
            <a:pPr indent="0" algn="r">
              <a:lnSpc>
                <a:spcPct val="100000"/>
              </a:lnSpc>
              <a:buNone/>
              <a:tabLst>
                <a:tab pos="0" algn="l"/>
              </a:tabLst>
            </a:pPr>
            <a:r>
              <a:rPr lang="en" sz="5800" b="0" strike="noStrike" spc="-1" dirty="0">
                <a:solidFill>
                  <a:schemeClr val="lt1"/>
                </a:solidFill>
                <a:latin typeface="Syncopate"/>
                <a:ea typeface="Syncopate"/>
              </a:rPr>
              <a:t>Thank you</a:t>
            </a:r>
            <a:r>
              <a:rPr lang="en" sz="5800" b="0" strike="noStrike" spc="-1" dirty="0" smtClean="0">
                <a:solidFill>
                  <a:schemeClr val="lt1"/>
                </a:solidFill>
                <a:latin typeface="Syncopate"/>
                <a:ea typeface="Syncopate"/>
              </a:rPr>
              <a:t>!</a:t>
            </a:r>
            <a:endParaRPr lang="fr-FR" sz="5800" b="0" strike="noStrike" spc="-1" dirty="0">
              <a:solidFill>
                <a:schemeClr val="dk1"/>
              </a:solidFill>
              <a:latin typeface="Arial"/>
            </a:endParaRPr>
          </a:p>
        </p:txBody>
      </p:sp>
      <p:sp>
        <p:nvSpPr>
          <p:cNvPr id="90" name="PlaceHolder 2"/>
          <p:cNvSpPr>
            <a:spLocks noGrp="1"/>
          </p:cNvSpPr>
          <p:nvPr>
            <p:ph type="subTitle"/>
          </p:nvPr>
        </p:nvSpPr>
        <p:spPr>
          <a:xfrm>
            <a:off x="4438800" y="1695600"/>
            <a:ext cx="3990600" cy="1228320"/>
          </a:xfrm>
          <a:prstGeom prst="rect">
            <a:avLst/>
          </a:prstGeom>
          <a:noFill/>
          <a:ln w="0">
            <a:noFill/>
          </a:ln>
        </p:spPr>
        <p:txBody>
          <a:bodyPr lIns="91440" tIns="91440" rIns="91440" bIns="91440" anchor="t">
            <a:normAutofit fontScale="85000" lnSpcReduction="20000"/>
          </a:bodyPr>
          <a:lstStyle/>
          <a:p>
            <a:pPr indent="0" algn="r">
              <a:lnSpc>
                <a:spcPct val="100000"/>
              </a:lnSpc>
              <a:buNone/>
              <a:tabLst>
                <a:tab pos="0" algn="l"/>
              </a:tabLst>
            </a:pPr>
            <a:r>
              <a:rPr lang="en" sz="1400" b="0" strike="noStrike" spc="-1" dirty="0">
                <a:solidFill>
                  <a:schemeClr val="dk1"/>
                </a:solidFill>
                <a:latin typeface="Cabin"/>
                <a:ea typeface="Cabin"/>
              </a:rPr>
              <a:t>Do you have </a:t>
            </a:r>
            <a:r>
              <a:rPr lang="en" sz="1400" b="0" strike="noStrike" spc="-1" dirty="0" smtClean="0">
                <a:solidFill>
                  <a:schemeClr val="dk1"/>
                </a:solidFill>
                <a:latin typeface="Cabin"/>
                <a:ea typeface="Cabin"/>
              </a:rPr>
              <a:t>an</a:t>
            </a:r>
            <a:r>
              <a:rPr lang="en-US" sz="1400" spc="-1" dirty="0">
                <a:solidFill>
                  <a:schemeClr val="dk1"/>
                </a:solidFill>
                <a:latin typeface="Cabin"/>
                <a:ea typeface="Cabin"/>
              </a:rPr>
              <a:t>https://colab.research.google.com/drive/19_IeJX59_oogGQAKwxT_aJkNsEuX9hgv?usp=sharinghttps://colab.research.google.com/drive/19_IeJX59_oogGQAKwxT_aJkNsEuX9hgv?usp=sharinghttps://colab.research.google.com/drive/19_IeJX59_oogGQAKwxT_aJkNsEuX9hgv?usp=sharing</a:t>
            </a:r>
            <a:r>
              <a:rPr lang="en" sz="1400" b="0" strike="noStrike" spc="-1" dirty="0" smtClean="0">
                <a:solidFill>
                  <a:schemeClr val="dk1"/>
                </a:solidFill>
                <a:latin typeface="Cabin"/>
                <a:ea typeface="Cabin"/>
              </a:rPr>
              <a:t>y </a:t>
            </a:r>
            <a:r>
              <a:rPr lang="en" sz="1400" b="0" strike="noStrike" spc="-1" dirty="0">
                <a:solidFill>
                  <a:schemeClr val="dk1"/>
                </a:solidFill>
                <a:latin typeface="Cabin"/>
                <a:ea typeface="Cabin"/>
              </a:rPr>
              <a:t>questions?</a:t>
            </a:r>
            <a:endParaRPr lang="en-US" sz="1400" b="0" strike="noStrike" spc="-1" dirty="0">
              <a:solidFill>
                <a:srgbClr val="FFFFFF"/>
              </a:solidFill>
              <a:latin typeface="OpenSymbol"/>
            </a:endParaRPr>
          </a:p>
        </p:txBody>
      </p:sp>
      <p:grpSp>
        <p:nvGrpSpPr>
          <p:cNvPr id="91" name="Google Shape;298;p46"/>
          <p:cNvGrpSpPr/>
          <p:nvPr/>
        </p:nvGrpSpPr>
        <p:grpSpPr>
          <a:xfrm>
            <a:off x="6944040" y="3053520"/>
            <a:ext cx="275760" cy="275760"/>
            <a:chOff x="6944040" y="3053520"/>
            <a:chExt cx="275760" cy="275760"/>
          </a:xfrm>
        </p:grpSpPr>
        <p:sp>
          <p:nvSpPr>
            <p:cNvPr id="92" name="Google Shape;299;p46"/>
            <p:cNvSpPr/>
            <p:nvPr/>
          </p:nvSpPr>
          <p:spPr>
            <a:xfrm>
              <a:off x="6944040" y="305352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3" name="Google Shape;300;p46"/>
            <p:cNvSpPr/>
            <p:nvPr/>
          </p:nvSpPr>
          <p:spPr>
            <a:xfrm>
              <a:off x="7008120" y="311904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4" name="Google Shape;301;p46"/>
            <p:cNvSpPr/>
            <p:nvPr/>
          </p:nvSpPr>
          <p:spPr>
            <a:xfrm>
              <a:off x="7138080" y="30891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grpSp>
        <p:nvGrpSpPr>
          <p:cNvPr id="95" name="Google Shape;302;p46"/>
          <p:cNvGrpSpPr/>
          <p:nvPr/>
        </p:nvGrpSpPr>
        <p:grpSpPr>
          <a:xfrm>
            <a:off x="7505280" y="3072240"/>
            <a:ext cx="266400" cy="238320"/>
            <a:chOff x="7505280" y="3072240"/>
            <a:chExt cx="266400" cy="238320"/>
          </a:xfrm>
        </p:grpSpPr>
        <p:sp>
          <p:nvSpPr>
            <p:cNvPr id="96" name="Google Shape;303;p46"/>
            <p:cNvSpPr/>
            <p:nvPr/>
          </p:nvSpPr>
          <p:spPr>
            <a:xfrm>
              <a:off x="7514640" y="31564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7" name="Google Shape;304;p46"/>
            <p:cNvSpPr/>
            <p:nvPr/>
          </p:nvSpPr>
          <p:spPr>
            <a:xfrm>
              <a:off x="7505280" y="307224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305;p46"/>
            <p:cNvSpPr/>
            <p:nvPr/>
          </p:nvSpPr>
          <p:spPr>
            <a:xfrm>
              <a:off x="7607880" y="31564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9" name="Google Shape;306;p46"/>
          <p:cNvSpPr/>
          <p:nvPr/>
        </p:nvSpPr>
        <p:spPr>
          <a:xfrm>
            <a:off x="4705200" y="4067280"/>
            <a:ext cx="3723840" cy="256680"/>
          </a:xfrm>
          <a:prstGeom prst="rect">
            <a:avLst/>
          </a:prstGeom>
          <a:noFill/>
          <a:ln w="0">
            <a:noFill/>
          </a:ln>
        </p:spPr>
        <p:style>
          <a:lnRef idx="0">
            <a:scrgbClr r="0" g="0" b="0"/>
          </a:lnRef>
          <a:fillRef idx="0">
            <a:scrgbClr r="0" g="0" b="0"/>
          </a:fillRef>
          <a:effectRef idx="0">
            <a:scrgbClr r="0" g="0" b="0"/>
          </a:effectRef>
          <a:fontRef idx="minor"/>
        </p:style>
        <p:txBody>
          <a:bodyPr lIns="870823080" tIns="128520" rIns="870823080" bIns="128520" anchor="t">
            <a:normAutofit fontScale="25000" lnSpcReduction="20000"/>
          </a:bodyPr>
          <a:lstStyle/>
          <a:p>
            <a:pPr algn="r" defTabSz="914400">
              <a:lnSpc>
                <a:spcPct val="100000"/>
              </a:lnSpc>
              <a:tabLst>
                <a:tab pos="0" algn="l"/>
              </a:tabLst>
            </a:pPr>
            <a:r>
              <a:rPr lang="en" sz="1200" b="0" strike="noStrike" spc="-1">
                <a:solidFill>
                  <a:schemeClr val="dk1"/>
                </a:solidFill>
                <a:latin typeface="Arial"/>
              </a:rPr>
              <a:t>+91 620 421 838</a:t>
            </a:r>
            <a:endParaRPr lang="en-US" sz="1200" b="0" strike="noStrike" spc="-1">
              <a:solidFill>
                <a:srgbClr val="FFFFFF"/>
              </a:solidFill>
              <a:latin typeface="OpenSymbol"/>
            </a:endParaRPr>
          </a:p>
        </p:txBody>
      </p:sp>
      <p:sp>
        <p:nvSpPr>
          <p:cNvPr id="100" name="Google Shape;307;p46"/>
          <p:cNvSpPr/>
          <p:nvPr/>
        </p:nvSpPr>
        <p:spPr>
          <a:xfrm>
            <a:off x="8067600" y="305568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1"/>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strike="noStrike" spc="-1">
              <a:solidFill>
                <a:srgbClr val="000000"/>
              </a:solidFill>
              <a:latin typeface="OpenSymbol"/>
            </a:endParaRPr>
          </a:p>
        </p:txBody>
      </p:sp>
      <p:pic>
        <p:nvPicPr>
          <p:cNvPr id="101" name="Google Shape;308;p46"/>
          <p:cNvPicPr/>
          <p:nvPr/>
        </p:nvPicPr>
        <p:blipFill>
          <a:blip r:embed="rId2"/>
          <a:srcRect l="4815" r="4807"/>
          <a:stretch/>
        </p:blipFill>
        <p:spPr>
          <a:xfrm>
            <a:off x="0" y="0"/>
            <a:ext cx="3097800" cy="5143320"/>
          </a:xfrm>
          <a:prstGeom prst="rect">
            <a:avLst/>
          </a:prstGeom>
          <a:ln w="0">
            <a:noFill/>
          </a:ln>
        </p:spPr>
      </p:pic>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theme/theme1.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TotalTime>
  <Words>643</Words>
  <Application>Microsoft Office PowerPoint</Application>
  <PresentationFormat>On-screen Show (16:9)</PresentationFormat>
  <Paragraphs>34</Paragraphs>
  <Slides>12</Slides>
  <Notes>1</Notes>
  <HiddenSlides>0</HiddenSlides>
  <MMClips>0</MMClips>
  <ScaleCrop>false</ScaleCrop>
  <HeadingPairs>
    <vt:vector size="6" baseType="variant">
      <vt:variant>
        <vt:lpstr>Fonts Used</vt:lpstr>
      </vt:variant>
      <vt:variant>
        <vt:i4>8</vt:i4>
      </vt:variant>
      <vt:variant>
        <vt:lpstr>Theme</vt:lpstr>
      </vt:variant>
      <vt:variant>
        <vt:i4>28</vt:i4>
      </vt:variant>
      <vt:variant>
        <vt:lpstr>Slide Titles</vt:lpstr>
      </vt:variant>
      <vt:variant>
        <vt:i4>12</vt:i4>
      </vt:variant>
    </vt:vector>
  </HeadingPairs>
  <TitlesOfParts>
    <vt:vector size="48" baseType="lpstr">
      <vt:lpstr>Arial</vt:lpstr>
      <vt:lpstr>Cabin</vt:lpstr>
      <vt:lpstr>Cabin Medium</vt:lpstr>
      <vt:lpstr>Calibri</vt:lpstr>
      <vt:lpstr>OpenSymbol</vt:lpstr>
      <vt:lpstr>Symbol</vt:lpstr>
      <vt:lpstr>Syncopate</vt:lpstr>
      <vt:lpstr>Wingdings</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Minimalist Design by Slidesgo</vt:lpstr>
      <vt:lpstr>Slidesgo Final Pages</vt:lpstr>
      <vt:lpstr>Slidesgo Final Pages</vt:lpstr>
      <vt:lpstr>Slidesgo Final Pages</vt:lpstr>
      <vt:lpstr>Slidesgo Final Pages</vt:lpstr>
      <vt:lpstr>Slidesgo Final Pages</vt:lpstr>
      <vt:lpstr>Slidesgo Final Pages</vt:lpstr>
      <vt:lpstr>Automation of Fruit Sorting</vt:lpstr>
      <vt:lpstr>Introduction</vt:lpstr>
      <vt:lpstr>Introduction</vt:lpstr>
      <vt:lpstr>Importance of Fruit Sorting</vt:lpstr>
      <vt:lpstr>Traditional vs Automated Methods</vt:lpstr>
      <vt:lpstr>Impact on Quality and Efficiency</vt:lpstr>
      <vt:lpstr>Literature Review</vt:lpstr>
      <vt:lpstr>Challenges in Traditional Sorting</vt:lpstr>
      <vt:lpstr>Advancements in Automation</vt:lpstr>
      <vt:lpstr>Machine Vision in Fruit Sorting</vt:lpstr>
      <vt:lpstr>Conclusions</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Automation of Fruit Sorting</dc:title>
  <cp:lastModifiedBy>ACER</cp:lastModifiedBy>
  <cp:revision>12</cp:revision>
  <dcterms:modified xsi:type="dcterms:W3CDTF">2025-04-24T03:45:44Z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2025-04-22T03:50:34Z</dcterms:created>
  <dc:creator>Unknown Creator</dc:creator>
  <dc:description/>
  <dc:language>en-US</dc:language>
  <cp:lastModifiedBy>Unknown Creator</cp:lastModifiedBy>
  <dcterms:modified xsi:type="dcterms:W3CDTF">2025-04-22T03:50:34Z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